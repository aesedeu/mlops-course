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4868" y="1046988"/>
            <a:ext cx="685800" cy="-41148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53528" y="658368"/>
            <a:ext cx="548640" cy="292608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932688"/>
            <a:ext cx="-182880" cy="484632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4868" y="1046988"/>
            <a:ext cx="1051560" cy="36576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6428" y="1412748"/>
            <a:ext cx="685800" cy="-155448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005840"/>
            <a:ext cx="82296" cy="82296"/>
          </a:xfrm>
          <a:prstGeom prst="ellipse">
            <a:avLst/>
          </a:prstGeom>
          <a:solidFill>
            <a:srgbClr val="2B3470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594360"/>
            <a:ext cx="128016" cy="128016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0" y="886968"/>
            <a:ext cx="91440" cy="91440"/>
          </a:xfrm>
          <a:prstGeom prst="ellipse">
            <a:avLst/>
          </a:prstGeom>
          <a:solidFill>
            <a:srgbClr val="2B3470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1371600"/>
            <a:ext cx="82296" cy="82296"/>
          </a:xfrm>
          <a:prstGeom prst="ellipse">
            <a:avLst/>
          </a:prstGeom>
          <a:solidFill>
            <a:srgbClr val="2B347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216152"/>
            <a:ext cx="64008" cy="64008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795528"/>
            <a:ext cx="128016" cy="128016"/>
          </a:xfrm>
          <a:prstGeom prst="ellipse">
            <a:avLst/>
          </a:prstGeom>
          <a:solidFill>
            <a:srgbClr val="21285C"/>
          </a:solidFill>
          <a:ln w="19050">
            <a:solidFill>
              <a:srgbClr val="F762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2527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 · MLOPS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16002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Компоуз-сборка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MLOps-проекта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экспериментов и реестр моделей, экзекьюторы Airflow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Celery-стек, наблюдаемость на Prometheus + Grafana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" y="4069080"/>
            <a:ext cx="2194560" cy="0"/>
          </a:xfrm>
          <a:prstGeom prst="line">
            <a:avLst/>
          </a:prstGeom>
          <a:noFill/>
          <a:ln w="12700">
            <a:solidFill>
              <a:srgbClr val="495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24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 Евгений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Магистратура «Искусственный интеллект», НИУ ВШЭ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ЛЕКЦИЯ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04164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20824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95681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MLOps-стек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трекинг, реестр, артефакты, оркестрация, мониторинг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19472" y="1828800"/>
            <a:ext cx="404164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75504" y="2020824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13" name="Text 11"/>
          <p:cNvSpPr/>
          <p:nvPr/>
        </p:nvSpPr>
        <p:spPr>
          <a:xfrm>
            <a:off x="517550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88152" y="195681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MLflow: архитектура и код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404164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099816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03580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моделей, алиасы, артефакты в MinIO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19472" y="2907792"/>
            <a:ext cx="404164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75504" y="3099816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21" name="Text 19"/>
          <p:cNvSpPr/>
          <p:nvPr/>
        </p:nvSpPr>
        <p:spPr>
          <a:xfrm>
            <a:off x="517550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88152" y="303580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Экзекьюторы Airflow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Celery / Kubernetes — устройство и выбор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986784"/>
            <a:ext cx="404164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4178808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11480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Celery-стек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брокер, воркеры, result backend, Flower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919472" y="3986784"/>
            <a:ext cx="404164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75504" y="4178808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29" name="Text 27"/>
          <p:cNvSpPr/>
          <p:nvPr/>
        </p:nvSpPr>
        <p:spPr>
          <a:xfrm>
            <a:off x="5175504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88152" y="411480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Grafana, экспортёры, алерты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MLOps-стек: что связываем воедино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ML-проект живёт не в ноутбуке. Нужен единый контур: где хранить результаты обучения, чем запускать пайплайны и как за всем этим наблюдать.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параметры, метрики, артефакты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95728" y="2816352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33472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B3470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моделей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Registry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+ алиасы PROD/STAGING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816352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B347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Оркестрация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 + Celery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18304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DAG-и обучения и инференса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65392" y="2816352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03136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F76266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 · Grafana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03136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дашборды, алерты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8065008" cy="566928"/>
          </a:xfrm>
          <a:prstGeom prst="roundRect">
            <a:avLst>
              <a:gd name="adj" fmla="val 19355"/>
            </a:avLst>
          </a:prstGeom>
          <a:solidFill>
            <a:srgbClr val="2128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0096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9913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4069080"/>
            <a:ext cx="6830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это — набор сервисов в одном docker-compose.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семинаре соберём стек целиком.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43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" y="28986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 и registry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хранить параметры, метрики и артефакты обучения: self-hosted MLflow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ПОНЯТИЯ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Tracking, registry, артефакты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8065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сущности, без которых обучение невоспроизводимо. Их и берёт на себя MLOps-платформа.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24140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6517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8096" y="3127248"/>
            <a:ext cx="21854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запуск (run) фиксирует параметры, метрики, версию кода и данных. Можно сравнить эксперименты и понять, что улучшило качество.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38144" y="21945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24140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6517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registry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57600" y="3127248"/>
            <a:ext cx="21854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Версионирование обученных моделей. Алиасы PROD / STAGING указывают, какая версия боевая, а какая на тесте.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7648" y="21945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47104" y="24140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26517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Артефакты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47104" y="3127248"/>
            <a:ext cx="21854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результата: сама модель, графики, отчёты, датасеты. Хранятся в объектном хранилище (S3 / MinIO), а не в БД.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Архитектура: сервер, сторы, реестр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разделяет метаданные и файлы: метрики и параметры идут в БД (backend store), тяжёлые артефакты — в объектное хранилище.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32806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/ CLI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mlflow.log_*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2651760"/>
            <a:ext cx="502920" cy="914"/>
          </a:xfrm>
          <a:prstGeom prst="line">
            <a:avLst/>
          </a:prstGeom>
          <a:noFill/>
          <a:ln w="3048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212848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1285C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Server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27248" y="2651760"/>
            <a:ext cx="2020824" cy="384048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64810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API :5000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27248" y="3090672"/>
            <a:ext cx="2020824" cy="384048"/>
          </a:xfrm>
          <a:prstGeom prst="roundRect">
            <a:avLst>
              <a:gd name="adj" fmla="val 14286"/>
            </a:avLst>
          </a:prstGeom>
          <a:solidFill>
            <a:srgbClr val="2B347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08701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27248" y="3529584"/>
            <a:ext cx="2020824" cy="365760"/>
          </a:xfrm>
          <a:prstGeom prst="roundRect">
            <a:avLst>
              <a:gd name="adj" fmla="val 15000"/>
            </a:avLst>
          </a:prstGeom>
          <a:solidFill>
            <a:srgbClr val="F76266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52592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2743200"/>
            <a:ext cx="502920" cy="914"/>
          </a:xfrm>
          <a:prstGeom prst="line">
            <a:avLst/>
          </a:prstGeom>
          <a:noFill/>
          <a:ln w="2794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49240" y="3566160"/>
            <a:ext cx="502920" cy="914"/>
          </a:xfrm>
          <a:prstGeom prst="line">
            <a:avLst/>
          </a:prstGeom>
          <a:noFill/>
          <a:ln w="2794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97880" y="2487168"/>
            <a:ext cx="2715768" cy="548640"/>
          </a:xfrm>
          <a:prstGeom prst="roundRect">
            <a:avLst>
              <a:gd name="adj" fmla="val 10000"/>
            </a:avLst>
          </a:prstGeom>
          <a:solidFill>
            <a:srgbClr val="2B3470"/>
          </a:solidFill>
          <a:ln/>
        </p:spPr>
      </p:sp>
      <p:sp>
        <p:nvSpPr>
          <p:cNvPr id="22" name="Text 20"/>
          <p:cNvSpPr/>
          <p:nvPr/>
        </p:nvSpPr>
        <p:spPr>
          <a:xfrm>
            <a:off x="5971032" y="2483510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Store · PostgreSQL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054096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· metrics · теги · версии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97880" y="3346704"/>
            <a:ext cx="2715768" cy="548640"/>
          </a:xfrm>
          <a:prstGeom prst="roundRect">
            <a:avLst>
              <a:gd name="adj" fmla="val 10000"/>
            </a:avLst>
          </a:prstGeom>
          <a:solidFill>
            <a:srgbClr val="F76266"/>
          </a:solidFill>
          <a:ln/>
        </p:spPr>
      </p:sp>
      <p:sp>
        <p:nvSpPr>
          <p:cNvPr id="25" name="Text 23"/>
          <p:cNvSpPr/>
          <p:nvPr/>
        </p:nvSpPr>
        <p:spPr>
          <a:xfrm>
            <a:off x="5971032" y="334304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 · S3 / MinIO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391363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· графики · датасеты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8065008" cy="475488"/>
          </a:xfrm>
          <a:prstGeom prst="roundRect">
            <a:avLst>
              <a:gd name="adj" fmla="val 23077"/>
            </a:avLst>
          </a:prstGeom>
          <a:solidFill>
            <a:srgbClr val="21285C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" y="42382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2199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08760" y="4343400"/>
            <a:ext cx="683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 — в Postgres, артефакты — в MinIO; сервер лишь связывает их.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выглядит в коде и запуске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поднимается одной командой, логирование — несколькими строками в тренировочном скрипте.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892040" cy="2468880"/>
          </a:xfrm>
          <a:prstGeom prst="roundRect">
            <a:avLst>
              <a:gd name="adj" fmla="val 2963"/>
            </a:avLst>
          </a:prstGeom>
          <a:solidFill>
            <a:srgbClr val="1A1F45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2951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2951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2951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2402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 server + SDK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2624328"/>
            <a:ext cx="445312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запуск tracking-сервера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mlflow server --host 0.0.0.0 \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--backend-store-uri \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postgresql://mlflow@postgres/mlflow \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--artifacts-destination s3://mlflow \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--serve-artifacts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 тренировочном скрипте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mlflow.set_tracking_uri("http://mlflow:5000")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mlflow.log_params(params)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mlflow.log_metric("accuracy", acc)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mlflow.sklearn.log_model(clf, "model")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2148840"/>
            <a:ext cx="303580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2221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459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запуск обучения с params и metrics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2779776"/>
            <a:ext cx="303580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2852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связанных run-ов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3410712"/>
            <a:ext cx="303580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4838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3721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 модель + signature в артефакты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4041648"/>
            <a:ext cx="303580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43525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register_model → версия + alias PROD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Registry: версии и алиасы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обучения модель регистрируется в реестре: у неё появляется имя и версии. Алиас (PROD / STAGING) указывает, какую версию тянуть в бой.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model: wine-clf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40233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151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63240" y="2715768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2B3470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27066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@STAGING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182112"/>
            <a:ext cx="40233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1821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63240" y="3282696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76266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3273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40233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3749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86000"/>
            <a:ext cx="3767328" cy="2084832"/>
          </a:xfrm>
          <a:prstGeom prst="roundRect">
            <a:avLst>
              <a:gd name="adj" fmla="val 3509"/>
            </a:avLst>
          </a:prstGeom>
          <a:solidFill>
            <a:srgbClr val="1A1F45"/>
          </a:solidFill>
          <a:ln/>
        </p:spPr>
      </p:sp>
      <p:sp>
        <p:nvSpPr>
          <p:cNvPr id="21" name="Shape 19"/>
          <p:cNvSpPr/>
          <p:nvPr/>
        </p:nvSpPr>
        <p:spPr>
          <a:xfrm>
            <a:off x="5010912" y="24323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24323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13248" y="24323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23774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65776" y="2761488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регистрируем и ставим alias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mlflow.register_model(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"runs:/&lt;id&gt;/model",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"wine-clf")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client.set_registered_model_alias(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"wine-clf", "PROD", version=2)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загрузка боевой версии: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mlflow.pyfunc.load_model(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"models:/wine-clf@PROD")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8065008" cy="365760"/>
          </a:xfrm>
          <a:prstGeom prst="roundRect">
            <a:avLst>
              <a:gd name="adj" fmla="val 30000"/>
            </a:avLst>
          </a:prstGeom>
          <a:solidFill>
            <a:srgbClr val="21285C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" y="44577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4394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08760" y="4617720"/>
            <a:ext cx="6830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модели = смена алиаса.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инференса всегда просит models:/wine-clf@PROD.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Артефакты: где и как хранятся в MinIO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Тяжёлые файлы (модель, графики, датасеты) MLflow пишет не в БД, а в S3-совместимое хранилище MinIO — в бакет s3://mlflow через endpoint MinIO.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Бакет s3://mlflow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A1F45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7432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7432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7008" y="27432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6883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структура бакета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" y="3072384"/>
            <a:ext cx="3584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7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s3://mlflow/</a:t>
            </a:r>
            <a:endParaRPr lang="en-US" sz="11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1/  ← experiment_id</a:t>
            </a:r>
            <a:endParaRPr lang="en-US" sz="11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&lt;run_id&gt;/artifacts/</a:t>
            </a:r>
            <a:endParaRPr lang="en-US" sz="11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7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model/  MLmodel · model.pkl</a:t>
            </a:r>
            <a:endParaRPr lang="en-US" sz="11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signature · input_example</a:t>
            </a:r>
            <a:endParaRPr lang="en-US" sz="11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plots/  confusion_matrix.png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37673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3591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MLFLOW_S3_ENDPOINT_URL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8775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http://minio:9000 — адрес MinIO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2889504"/>
            <a:ext cx="37673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9626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AWS_ACCESS_KEY_ID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19125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minioadmin — ключ доступа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493008"/>
            <a:ext cx="37673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566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AWS_SECRET_ACCESS_KEY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79476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minioadmin — секрет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4096512"/>
            <a:ext cx="37673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41696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--serve-artifacts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39826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проксирует загрузку в S3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8065008" cy="365760"/>
          </a:xfrm>
          <a:prstGeom prst="roundRect">
            <a:avLst>
              <a:gd name="adj" fmla="val 30000"/>
            </a:avLst>
          </a:prstGeom>
          <a:solidFill>
            <a:srgbClr val="21285C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" y="44577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4394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08760" y="4617720"/>
            <a:ext cx="6830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внутри MLflow говорит с MinIO по протоколу S3.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 — в Postgres, файлы — в MinIO.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Ландшафт трекинга: почему self-hosted MLflow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Инструментов трекинга много (MLflow, ClearML, Weights &amp; Biases). Для курса нужен полностью self-hosted стек без внешних SaaS — под это MLflow подходит лучше всего.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65008" cy="384048"/>
          </a:xfrm>
          <a:prstGeom prst="roundRect">
            <a:avLst>
              <a:gd name="adj" fmla="val 19048"/>
            </a:avLst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46120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— наш выбор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8076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806500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743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сложность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легко: сервер + Postgres + MinIO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ClearML: ES+Mongo+Redis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06500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282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2826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зрелый, версии, алиасы PROD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3282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W&amp;B: registry в облаке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806500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822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Автологирование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8221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mlflow.autolog() из коробки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3822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ClearML: богаче automagic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61688"/>
            <a:ext cx="806500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3616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3616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индустрии, open-source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4361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W&amp;B/ClearML: часто SaaS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ВЫБОР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нашем стеке: self-hosted MLflow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трекинг, реестр и артефакты закрывает один self-hosted MLflow — без внешних SaaS. Три роли, три хранилища, всё в нашем docker-compose.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9572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2128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" y="2962656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· metrics · теги каждого run-а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3566160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PostgreSQL (БД mlflow)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38144" y="21945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21024" y="239572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6266"/>
          </a:solidFill>
          <a:ln/>
        </p:spPr>
      </p:sp>
      <p:sp>
        <p:nvSpPr>
          <p:cNvPr id="15" name="Text 13"/>
          <p:cNvSpPr/>
          <p:nvPr/>
        </p:nvSpPr>
        <p:spPr>
          <a:xfrm>
            <a:off x="3621024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Registry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2962656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wine-clf, алиасы PROD / STAGING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0" y="3566160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сервер, тот же Postgres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27648" y="21945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239572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2B34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Артефакты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47104" y="2962656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графики, signature, датасеты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47104" y="3566160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store: s3://mlflow в MinIO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8065008" cy="475488"/>
          </a:xfrm>
          <a:prstGeom prst="roundRect">
            <a:avLst>
              <a:gd name="adj" fmla="val 23077"/>
            </a:avLst>
          </a:prstGeom>
          <a:solidFill>
            <a:srgbClr val="2128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2382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2199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4343400"/>
            <a:ext cx="683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DAG обучения логирует всё в MLflow: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метрики, модель → registry, файлы → MinIO.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43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" y="28986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Экзекьюторы Airflow и Celery-стек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и как Airflow исполняет задачи: от LocalExecutor до распределённого Celery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AIRFLOW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Executor: кто и где запускает задачи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решает, ЧТО и КОГДА запускать. Executor решает, ГДЕ физически исполнится task instance. Это две разные роли.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разбирает DAG-и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 задачи в очередь по расписанию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95728" y="2816352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33472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F76266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выбирает, где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запуска task instance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816352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B347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исполняет код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18304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оператор задачи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65392" y="2816352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03136" y="2395728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B3470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239572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</a:t>
            </a:r>
            <a:endParaRPr lang="en-US" sz="13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03136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задач в PostgreSQL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041648"/>
            <a:ext cx="8065008" cy="548640"/>
          </a:xfrm>
          <a:prstGeom prst="roundRect">
            <a:avLst>
              <a:gd name="adj" fmla="val 20000"/>
            </a:avLst>
          </a:prstGeom>
          <a:solidFill>
            <a:srgbClr val="2128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0645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046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413308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executor задаётся одной переменной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AIRFLOW__CORE__EXECUTOR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 меняет всю топологию.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ЭКЗЕКЬЮТОРЫ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/ Celery / Kubernetes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типовых executor-а — от одной машины до кластера. Выбор зависит от масштаба и требований к изоляции.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5000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2128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LocalExecutor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машина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— как процессы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просто, без брокера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масштабируется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38144" y="21488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21024" y="235000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6266"/>
          </a:solidFill>
          <a:ln/>
        </p:spPr>
      </p:sp>
      <p:sp>
        <p:nvSpPr>
          <p:cNvPr id="15" name="Text 13"/>
          <p:cNvSpPr/>
          <p:nvPr/>
        </p:nvSpPr>
        <p:spPr>
          <a:xfrm>
            <a:off x="3621024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CeleryExecutor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21024" y="28803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воркеров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94176" y="3200400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горизонтальный масштаб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брокер (Redis)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выбор на семинаре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27648" y="21488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235000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2B34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KubernetesExecutor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0528" y="28803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на задачу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00400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и автоскейл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задача — pod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 в эксплуатации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CELERY-СТЕК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CeleryExecutor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 распределяет задачи через очередь. Ключевых компонентов четыре — плюс UI для наблюдения.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591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286000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Брокер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542032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(или RabbitMQ) — очередь задач между scheduler и воркерами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3035808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Воркеры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291840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 Celery, забирают задачи из очереди и исполняют операторы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587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" y="378561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041648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пишется результат/статус задачи (у нас — db+postgresql)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6085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4535424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" y="4791456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веб-UI мониторинга воркеров и задач Celery, порт 5555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Брокер: Redis vs RabbitMQ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37760" y="2514600"/>
            <a:ext cx="3657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20640" y="2624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проще, быстрый, in-memory; идеален для учебного и среднего стенда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410712"/>
            <a:ext cx="3657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3520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RabbitMQ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3776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AMQP-брокер, надёжная доставка, богатая маршрутизация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370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нас брокер и result backend — Redis и Postgres из того же compose.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CELERY-СТЕК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задачи: scheduler → broker → worker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не исполняется на месте: scheduler кладёт её в очередь брокера, свободный воркер забирает и исполняет, статус пишется в БД.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64810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 задачу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31720" y="3086100"/>
            <a:ext cx="502920" cy="914"/>
          </a:xfrm>
          <a:prstGeom prst="line">
            <a:avLst/>
          </a:prstGeom>
          <a:noFill/>
          <a:ln w="3302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265176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76266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6517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broker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задач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86100"/>
            <a:ext cx="502920" cy="914"/>
          </a:xfrm>
          <a:prstGeom prst="line">
            <a:avLst/>
          </a:prstGeom>
          <a:noFill/>
          <a:ln w="3302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2542032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2B3470"/>
          </a:solidFill>
          <a:ln/>
        </p:spPr>
      </p:sp>
      <p:sp>
        <p:nvSpPr>
          <p:cNvPr id="15" name="Text 13"/>
          <p:cNvSpPr/>
          <p:nvPr/>
        </p:nvSpPr>
        <p:spPr>
          <a:xfrm>
            <a:off x="5376672" y="2538374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310896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2B3470"/>
          </a:solidFill>
          <a:ln/>
        </p:spPr>
      </p:sp>
      <p:sp>
        <p:nvSpPr>
          <p:cNvPr id="17" name="Text 15"/>
          <p:cNvSpPr/>
          <p:nvPr/>
        </p:nvSpPr>
        <p:spPr>
          <a:xfrm>
            <a:off x="5376672" y="310530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3086100"/>
            <a:ext cx="457200" cy="914"/>
          </a:xfrm>
          <a:prstGeom prst="line">
            <a:avLst/>
          </a:prstGeom>
          <a:noFill/>
          <a:ln w="2794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2651760"/>
            <a:ext cx="1161288" cy="868680"/>
          </a:xfrm>
          <a:prstGeom prst="roundRect">
            <a:avLst>
              <a:gd name="adj" fmla="val 6316"/>
            </a:avLst>
          </a:prstGeom>
          <a:solidFill>
            <a:srgbClr val="21285C"/>
          </a:solidFill>
          <a:ln/>
        </p:spPr>
      </p:sp>
      <p:sp>
        <p:nvSpPr>
          <p:cNvPr id="20" name="Text 18"/>
          <p:cNvSpPr/>
          <p:nvPr/>
        </p:nvSpPr>
        <p:spPr>
          <a:xfrm>
            <a:off x="7525512" y="2648102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8065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задачи ← воркеры отчитываются в result backend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65008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261104"/>
            <a:ext cx="1188720" cy="310896"/>
          </a:xfrm>
          <a:prstGeom prst="roundRect">
            <a:avLst>
              <a:gd name="adj" fmla="val 20588"/>
            </a:avLst>
          </a:prstGeom>
          <a:solidFill>
            <a:srgbClr val="F76266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251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Flower :5555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411480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наблюдает за воркерами и очередью в реальном времени: активные задачи, нагрузка, ошибки.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CeleryExecutor в docker-compose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на Celery — это несколько env-переменных в общем блоке и набор сервисов. Реальные значения из нашего стека.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5074920" cy="2487168"/>
          </a:xfrm>
          <a:prstGeom prst="roundRect">
            <a:avLst>
              <a:gd name="adj" fmla="val 2941"/>
            </a:avLst>
          </a:prstGeom>
          <a:solidFill>
            <a:srgbClr val="1A1F45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35915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35915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35915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042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docker-compose.yaml · env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2688336"/>
            <a:ext cx="463600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x-airflow-common → environment: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AIRFLOW__CORE__EXECUTOR=CeleryExecutor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AIRFLOW__CELERY__BROKER_URL=\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redis://:@redis:6379/0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AIRFLOW__CELERY__RESULT_BACKEND=\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db+postgresql://airflow:airflow@postgres/airflow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AIRFLOW__DATABASE__SQL_ALCHEMY_CONN=\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postgresql+psycopg2://airflow@postgres/airflow</a:t>
            </a:r>
            <a:endParaRPr lang="en-US" sz="11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AIRFLOW__CORE__LOAD_EXAMPLES=false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760720" y="2212848"/>
            <a:ext cx="285292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07024" y="22128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airflow-webserver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0" y="22128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:8080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0" y="2633472"/>
            <a:ext cx="285292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07024" y="26334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airflow-scheduler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0" y="2633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DAG-ов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0" y="3054096"/>
            <a:ext cx="285292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07024" y="30540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airflow-worker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0" y="30540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0" y="3474720"/>
            <a:ext cx="285292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07024" y="3474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airflow-flower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98080" y="3474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:5555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3895344"/>
            <a:ext cx="285292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07024" y="38953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98080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 :6379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0" y="4315968"/>
            <a:ext cx="2852928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07024" y="43159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4315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 :5432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43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" y="28986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Prometheus + Grafana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дашборды и алерты: как понять, что стек реально жив и здоров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Prometheus: pull-модель и экспортёры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не ждёт метрики от сервисов — он сам ходит и собирает их (pull). Сервис отдаёт метрики по HTTP на /metrics; если сам не умеет — ставят экспортёр.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2B347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693822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Сервис / exporter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2697480" y="3108960"/>
            <a:ext cx="502920" cy="914"/>
          </a:xfrm>
          <a:prstGeom prst="line">
            <a:avLst/>
          </a:prstGeom>
          <a:noFill/>
          <a:ln w="3302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51760" y="27432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 (pull)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03320" y="26974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21285C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:9090 · TSDB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457200" cy="914"/>
          </a:xfrm>
          <a:prstGeom prst="line">
            <a:avLst/>
          </a:prstGeom>
          <a:noFill/>
          <a:ln w="3048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46520" y="2697480"/>
            <a:ext cx="2167128" cy="822960"/>
          </a:xfrm>
          <a:prstGeom prst="roundRect">
            <a:avLst>
              <a:gd name="adj" fmla="val 6667"/>
            </a:avLst>
          </a:prstGeom>
          <a:solidFill>
            <a:srgbClr val="F76266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693822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65008" cy="566928"/>
          </a:xfrm>
          <a:prstGeom prst="roundRect">
            <a:avLst>
              <a:gd name="adj" fmla="val 19355"/>
            </a:avLst>
          </a:prstGeom>
          <a:solidFill>
            <a:srgbClr val="21285C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0096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9913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4069080"/>
            <a:ext cx="6830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хранит time-series, Grafana их рисует.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читаются языком PromQL.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мониторим в нашем стеке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компонента — свой источник метрик. Где сервис не умеет отдавать /metrics сам, ставим экспортёр-переходник.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4041648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23225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  </a:t>
            </a:r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StatsD → statsd-exporter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2340864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1285C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331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:9102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2670048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 и статусы задач, задержки scheduler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19472" y="2194560"/>
            <a:ext cx="4041648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38928" y="23225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 </a:t>
            </a:r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postgres-exporter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19872" y="2340864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1285C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2331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:9187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38928" y="2670048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соединения, размер БД, транзакции, блокировки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64992"/>
            <a:ext cx="4041648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" y="34930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   </a:t>
            </a:r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node-exporter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49040" y="351129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1285C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5021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:9100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" y="384048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память, диск, сеть машины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19472" y="3364992"/>
            <a:ext cx="4041648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38928" y="34930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  </a:t>
            </a:r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требует exporter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19872" y="3511296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21285C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872" y="35021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8928" y="384048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напрямую /metrics не отдаёт; отмечено честно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prometheus.yml: scrape_configs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 как часто собирать — задаётся в scrape_configs. Каждый job — это цель (target) и её адрес внутри compose-сети.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5074920" cy="2487168"/>
          </a:xfrm>
          <a:prstGeom prst="roundRect">
            <a:avLst>
              <a:gd name="adj" fmla="val 2941"/>
            </a:avLst>
          </a:prstGeom>
          <a:solidFill>
            <a:srgbClr val="1A1F45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35915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35915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35915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042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prometheus/prometheus.yml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2688336"/>
            <a:ext cx="463600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9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global: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scrape_interval: 15s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scrape_configs: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job_name: node-exporter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static_configs: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targets: ['node-exporter:9100']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job_name: postgres-exporter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targets: ['postgres-exporter:9187']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job_name: airflow-statsd</a:t>
            </a:r>
            <a:endParaRPr lang="en-US" sz="109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9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targets: ['statsd-exporter:9102']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760720" y="2212848"/>
            <a:ext cx="2852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25312" y="2286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job_name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25312" y="2514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логическое имя цели в UI и PromQL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2834640"/>
            <a:ext cx="2852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25312" y="2907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25312" y="31363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host:port сервиса в сети compose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456432"/>
            <a:ext cx="2852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25312" y="3529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scrape_interval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25312" y="3758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часто ходить за метриками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4078224"/>
            <a:ext cx="2852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25312" y="4151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25312" y="43799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закомментирован: нужен exporter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Grafana: datasource и дашборды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настраивается декларативно через provisioning: источник данных и дашборды описаны файлами и подхватываются при старте — кликать в UI не нужно.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4892040" cy="2286000"/>
          </a:xfrm>
          <a:prstGeom prst="roundRect">
            <a:avLst>
              <a:gd name="adj" fmla="val 3200"/>
            </a:avLst>
          </a:prstGeom>
          <a:solidFill>
            <a:srgbClr val="1A1F45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4323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4323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4323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77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provisioning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2761488"/>
            <a:ext cx="44531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provisioning/datasources/ds.yml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datasources: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Prometheus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prometheus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FFB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url: http://prometheus:9090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isDefault: true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provisioning/dashboards/dash.yml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97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path: /var/lib/grafana/dashboards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577840" y="2286000"/>
            <a:ext cx="303580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2359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datasource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587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по url ...:9090, default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2889504"/>
            <a:ext cx="303580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2962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3191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из папки подхватываются сами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3493008"/>
            <a:ext cx="303580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566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overview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794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CPU/RAM/диск хоста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4096512"/>
            <a:ext cx="303580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4169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 / postgres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43982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соединения, нагрузка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Алерты: от правила до уведомления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Компоуз-сборка MLOps-проекта · Лекция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65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 хороши, когда на них смотрят. Алерты работают сами: правило на PromQL срабатывает, Alertmanager отправляет уведомление.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37744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rule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на PromQL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напр. up == 0 в течение 2 минут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95728" y="2798064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33472" y="2377440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B3470"/>
          </a:solidFill>
          <a:ln/>
        </p:spPr>
      </p:sp>
      <p:sp>
        <p:nvSpPr>
          <p:cNvPr id="13" name="Text 11"/>
          <p:cNvSpPr/>
          <p:nvPr/>
        </p:nvSpPr>
        <p:spPr>
          <a:xfrm>
            <a:off x="2706624" y="237744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 правило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33472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pending → firing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798064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2377440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F76266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237744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18304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группировка, дедуп, silence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65392" y="2798064"/>
            <a:ext cx="219456" cy="914"/>
          </a:xfrm>
          <a:prstGeom prst="line">
            <a:avLst/>
          </a:prstGeom>
          <a:noFill/>
          <a:ln w="2794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03136" y="2377440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2B3470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237744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03136" y="3273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Slack, Telegram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8065008" cy="548640"/>
          </a:xfrm>
          <a:prstGeom prst="roundRect">
            <a:avLst>
              <a:gd name="adj" fmla="val 20000"/>
            </a:avLst>
          </a:prstGeom>
          <a:solidFill>
            <a:srgbClr val="2128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0462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0279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4114800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Концептуально: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живут в Prometheus, а рассылку и подавление шума берёт на себя Alertmanager.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ЛЕКЦИИ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важно унести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2B347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3911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+ registry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MLflow: метаданные в Postgres, артефакты в MinIO, алиасы PROD/STAGING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187452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2B347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2103120"/>
            <a:ext cx="457200" cy="457200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03911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решает «где»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 распределяет задачи через брокер Redis по пулу воркеров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2B34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474720"/>
            <a:ext cx="457200" cy="457200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41071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Celery-стек целиком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broker, worker, result backend и Flower — всё в одном docker-compose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2B347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3474720"/>
            <a:ext cx="457200" cy="457200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41071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часть MLOps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собирает метрики через exporter-ы, Grafana рисует, Alertmanager будит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семинаре — </a:t>
            </a:r>
            <a:pPr indent="0" marL="0">
              <a:buNone/>
            </a:pPr>
            <a:r>
              <a:rPr lang="en-US" sz="1350" b="1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этот стек в docker-compose</a:t>
            </a:r>
            <a:pPr indent="0" marL="0">
              <a:buNone/>
            </a:pPr>
            <a:r>
              <a:rPr lang="en-US" sz="13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Airflow(Celery) + MLflow + MinIO + Prometheus/Grafana.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Компоуз-сборка MLOps-проекта</dc:title>
  <dc:subject>PptxGenJS Presentation</dc:subject>
  <dc:creator>Чернов Евгений</dc:creator>
  <cp:lastModifiedBy>Чернов Евгений</cp:lastModifiedBy>
  <cp:revision>1</cp:revision>
  <dcterms:created xsi:type="dcterms:W3CDTF">2026-07-16T07:40:21Z</dcterms:created>
  <dcterms:modified xsi:type="dcterms:W3CDTF">2026-07-16T07:40:21Z</dcterms:modified>
</cp:coreProperties>
</file>